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uli" charset="1" panose="00000500000000000000"/>
      <p:regular r:id="rId16"/>
    </p:embeddedFont>
    <p:embeddedFont>
      <p:font typeface="Muli Semi-Bold" charset="1" panose="00000700000000000000"/>
      <p:regular r:id="rId17"/>
    </p:embeddedFont>
    <p:embeddedFont>
      <p:font typeface="Muli Extra-Light" charset="1" panose="00000300000000000000"/>
      <p:regular r:id="rId18"/>
    </p:embeddedFont>
    <p:embeddedFont>
      <p:font typeface="Muli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2005738" y="2260462"/>
            <a:ext cx="7641615" cy="5845836"/>
          </a:xfrm>
          <a:custGeom>
            <a:avLst/>
            <a:gdLst/>
            <a:ahLst/>
            <a:cxnLst/>
            <a:rect r="r" b="b" t="t" l="l"/>
            <a:pathLst>
              <a:path h="5845836" w="7641615">
                <a:moveTo>
                  <a:pt x="7641616" y="5845836"/>
                </a:moveTo>
                <a:lnTo>
                  <a:pt x="0" y="5845836"/>
                </a:lnTo>
                <a:lnTo>
                  <a:pt x="0" y="0"/>
                </a:lnTo>
                <a:lnTo>
                  <a:pt x="7641616" y="0"/>
                </a:lnTo>
                <a:lnTo>
                  <a:pt x="7641616" y="5845836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38968" y="1433057"/>
            <a:ext cx="11330431" cy="7669896"/>
            <a:chOff x="0" y="0"/>
            <a:chExt cx="15107241" cy="1022652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4915988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10B5BF"/>
                  </a:solidFill>
                  <a:latin typeface="Muli"/>
                  <a:ea typeface="Muli"/>
                  <a:cs typeface="Muli"/>
                  <a:sym typeface="Muli"/>
                </a:rPr>
                <a:t>Lập Trình Mạng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985631"/>
              <a:ext cx="15107241" cy="563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999"/>
                </a:lnSpc>
              </a:pPr>
              <a:r>
                <a:rPr lang="en-US" sz="9999" b="true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Tìm Hiểu Về Cách Hoạt Động của ZaLo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8284699"/>
              <a:ext cx="15107241" cy="1943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spc="55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Thành Viên:</a:t>
              </a:r>
            </a:p>
            <a:p>
              <a:pPr algn="l">
                <a:lnSpc>
                  <a:spcPts val="3919"/>
                </a:lnSpc>
              </a:pPr>
              <a:r>
                <a:rPr lang="en-US" sz="2799" spc="55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  Nguyễn Quang Huy</a:t>
              </a:r>
            </a:p>
            <a:p>
              <a:pPr algn="l">
                <a:lnSpc>
                  <a:spcPts val="3919"/>
                </a:lnSpc>
              </a:pPr>
              <a:r>
                <a:rPr lang="en-US" sz="2799" spc="55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  Nguyễn Phan Nhật Quang 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120896" y="-716402"/>
            <a:ext cx="3586584" cy="2976864"/>
          </a:xfrm>
          <a:custGeom>
            <a:avLst/>
            <a:gdLst/>
            <a:ahLst/>
            <a:cxnLst/>
            <a:rect r="r" b="b" t="t" l="l"/>
            <a:pathLst>
              <a:path h="2976864" w="3586584">
                <a:moveTo>
                  <a:pt x="0" y="0"/>
                </a:moveTo>
                <a:lnTo>
                  <a:pt x="3586583" y="0"/>
                </a:lnTo>
                <a:lnTo>
                  <a:pt x="3586583" y="2976864"/>
                </a:lnTo>
                <a:lnTo>
                  <a:pt x="0" y="29768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05608" y="1646403"/>
            <a:ext cx="6356139" cy="7406924"/>
            <a:chOff x="0" y="0"/>
            <a:chExt cx="8474852" cy="987589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47625"/>
              <a:ext cx="8474852" cy="5869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8"/>
                </a:lnSpc>
              </a:pPr>
              <a:r>
                <a:rPr lang="en-US" sz="2699">
                  <a:solidFill>
                    <a:srgbClr val="FFFFFF"/>
                  </a:solidFill>
                  <a:latin typeface="Muli Extra-Light"/>
                  <a:ea typeface="Muli Extra-Light"/>
                  <a:cs typeface="Muli Extra-Light"/>
                  <a:sym typeface="Muli Extra-Light"/>
                </a:rPr>
                <a:t>Sơ đồ hoạt động </a:t>
              </a:r>
            </a:p>
          </p:txBody>
        </p:sp>
        <p:sp>
          <p:nvSpPr>
            <p:cNvPr name="AutoShape 4" id="4"/>
            <p:cNvSpPr/>
            <p:nvPr/>
          </p:nvSpPr>
          <p:spPr>
            <a:xfrm>
              <a:off x="0" y="1199656"/>
              <a:ext cx="8474852" cy="0"/>
            </a:xfrm>
            <a:prstGeom prst="line">
              <a:avLst/>
            </a:prstGeom>
            <a:ln cap="rnd" w="27422">
              <a:solidFill>
                <a:srgbClr val="10B5B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0" y="1821521"/>
              <a:ext cx="8474852" cy="5869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8"/>
                </a:lnSpc>
              </a:pPr>
              <a:r>
                <a:rPr lang="en-US" sz="2699">
                  <a:solidFill>
                    <a:srgbClr val="FFFFFF"/>
                  </a:solidFill>
                  <a:latin typeface="Muli Extra-Light"/>
                  <a:ea typeface="Muli Extra-Light"/>
                  <a:cs typeface="Muli Extra-Light"/>
                  <a:sym typeface="Muli Extra-Light"/>
                </a:rPr>
                <a:t>Các chức năng phía Server</a:t>
              </a:r>
            </a:p>
          </p:txBody>
        </p:sp>
        <p:sp>
          <p:nvSpPr>
            <p:cNvPr name="AutoShape 6" id="6"/>
            <p:cNvSpPr/>
            <p:nvPr/>
          </p:nvSpPr>
          <p:spPr>
            <a:xfrm>
              <a:off x="0" y="3068803"/>
              <a:ext cx="8474852" cy="0"/>
            </a:xfrm>
            <a:prstGeom prst="line">
              <a:avLst/>
            </a:prstGeom>
            <a:ln cap="rnd" w="27422">
              <a:solidFill>
                <a:srgbClr val="10B5B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" id="7"/>
            <p:cNvSpPr txBox="true"/>
            <p:nvPr/>
          </p:nvSpPr>
          <p:spPr>
            <a:xfrm rot="0">
              <a:off x="0" y="3690668"/>
              <a:ext cx="8474852" cy="5869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8"/>
                </a:lnSpc>
              </a:pPr>
              <a:r>
                <a:rPr lang="en-US" sz="2699">
                  <a:solidFill>
                    <a:srgbClr val="FFFFFF"/>
                  </a:solidFill>
                  <a:latin typeface="Muli Extra-Light"/>
                  <a:ea typeface="Muli Extra-Light"/>
                  <a:cs typeface="Muli Extra-Light"/>
                  <a:sym typeface="Muli Extra-Light"/>
                </a:rPr>
                <a:t>Các chức năng phía Client</a:t>
              </a:r>
            </a:p>
          </p:txBody>
        </p:sp>
        <p:sp>
          <p:nvSpPr>
            <p:cNvPr name="AutoShape 8" id="8"/>
            <p:cNvSpPr/>
            <p:nvPr/>
          </p:nvSpPr>
          <p:spPr>
            <a:xfrm>
              <a:off x="0" y="4937949"/>
              <a:ext cx="8474852" cy="0"/>
            </a:xfrm>
            <a:prstGeom prst="line">
              <a:avLst/>
            </a:prstGeom>
            <a:ln cap="rnd" w="27422">
              <a:solidFill>
                <a:srgbClr val="10B5B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5559814"/>
              <a:ext cx="8474852" cy="5869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8"/>
                </a:lnSpc>
              </a:pPr>
              <a:r>
                <a:rPr lang="en-US" sz="2699">
                  <a:solidFill>
                    <a:srgbClr val="FFFFFF"/>
                  </a:solidFill>
                  <a:latin typeface="Muli Extra-Light"/>
                  <a:ea typeface="Muli Extra-Light"/>
                  <a:cs typeface="Muli Extra-Light"/>
                  <a:sym typeface="Muli Extra-Light"/>
                </a:rPr>
                <a:t>Các tình huống</a:t>
              </a:r>
            </a:p>
          </p:txBody>
        </p:sp>
        <p:sp>
          <p:nvSpPr>
            <p:cNvPr name="AutoShape 10" id="10"/>
            <p:cNvSpPr/>
            <p:nvPr/>
          </p:nvSpPr>
          <p:spPr>
            <a:xfrm>
              <a:off x="0" y="6807096"/>
              <a:ext cx="8474852" cy="0"/>
            </a:xfrm>
            <a:prstGeom prst="line">
              <a:avLst/>
            </a:prstGeom>
            <a:ln cap="rnd" w="27422">
              <a:solidFill>
                <a:srgbClr val="10B5B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7428961"/>
              <a:ext cx="8474852" cy="5869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8"/>
                </a:lnSpc>
              </a:pPr>
              <a:r>
                <a:rPr lang="en-US" sz="2699">
                  <a:solidFill>
                    <a:srgbClr val="FFFFFF"/>
                  </a:solidFill>
                  <a:latin typeface="Muli Extra-Light"/>
                  <a:ea typeface="Muli Extra-Light"/>
                  <a:cs typeface="Muli Extra-Light"/>
                  <a:sym typeface="Muli Extra-Light"/>
                </a:rPr>
                <a:t>Các thuật toán</a:t>
              </a:r>
            </a:p>
          </p:txBody>
        </p:sp>
        <p:sp>
          <p:nvSpPr>
            <p:cNvPr name="AutoShape 12" id="12"/>
            <p:cNvSpPr/>
            <p:nvPr/>
          </p:nvSpPr>
          <p:spPr>
            <a:xfrm>
              <a:off x="0" y="8676242"/>
              <a:ext cx="8474852" cy="0"/>
            </a:xfrm>
            <a:prstGeom prst="line">
              <a:avLst/>
            </a:prstGeom>
            <a:ln cap="rnd" w="27422">
              <a:solidFill>
                <a:srgbClr val="10B5B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3" id="13"/>
            <p:cNvSpPr txBox="true"/>
            <p:nvPr/>
          </p:nvSpPr>
          <p:spPr>
            <a:xfrm rot="0">
              <a:off x="0" y="9298107"/>
              <a:ext cx="8474852" cy="5869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8"/>
                </a:lnSpc>
              </a:pPr>
              <a:r>
                <a:rPr lang="en-US" sz="2699">
                  <a:solidFill>
                    <a:srgbClr val="FFFFFF"/>
                  </a:solidFill>
                  <a:latin typeface="Muli Extra-Light"/>
                  <a:ea typeface="Muli Extra-Light"/>
                  <a:cs typeface="Muli Extra-Light"/>
                  <a:sym typeface="Muli Extra-Light"/>
                </a:rPr>
                <a:t>Cách tổ chức và quản lý dữ liệu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917497" y="4228983"/>
            <a:ext cx="5029317" cy="5029317"/>
          </a:xfrm>
          <a:custGeom>
            <a:avLst/>
            <a:gdLst/>
            <a:ahLst/>
            <a:cxnLst/>
            <a:rect r="r" b="b" t="t" l="l"/>
            <a:pathLst>
              <a:path h="5029317" w="5029317">
                <a:moveTo>
                  <a:pt x="0" y="0"/>
                </a:moveTo>
                <a:lnTo>
                  <a:pt x="5029317" y="0"/>
                </a:lnTo>
                <a:lnTo>
                  <a:pt x="5029317" y="5029317"/>
                </a:lnTo>
                <a:lnTo>
                  <a:pt x="0" y="50293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28700" y="1028700"/>
            <a:ext cx="6077873" cy="2607033"/>
            <a:chOff x="0" y="0"/>
            <a:chExt cx="8103830" cy="347604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2866443"/>
              <a:ext cx="8103830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Cách xây dựng ứng dụng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0"/>
              <a:ext cx="8103830" cy="2019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999"/>
                </a:lnSpc>
              </a:pPr>
              <a:r>
                <a:rPr lang="en-US" b="true" sz="9999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Zalo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01588" y="248166"/>
            <a:ext cx="2528658" cy="2606864"/>
          </a:xfrm>
          <a:custGeom>
            <a:avLst/>
            <a:gdLst/>
            <a:ahLst/>
            <a:cxnLst/>
            <a:rect r="r" b="b" t="t" l="l"/>
            <a:pathLst>
              <a:path h="2606864" w="2528658">
                <a:moveTo>
                  <a:pt x="0" y="0"/>
                </a:moveTo>
                <a:lnTo>
                  <a:pt x="2528658" y="0"/>
                </a:lnTo>
                <a:lnTo>
                  <a:pt x="2528658" y="2606865"/>
                </a:lnTo>
                <a:lnTo>
                  <a:pt x="0" y="2606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70296" y="1940104"/>
            <a:ext cx="12147409" cy="8016560"/>
          </a:xfrm>
          <a:custGeom>
            <a:avLst/>
            <a:gdLst/>
            <a:ahLst/>
            <a:cxnLst/>
            <a:rect r="r" b="b" t="t" l="l"/>
            <a:pathLst>
              <a:path h="8016560" w="12147409">
                <a:moveTo>
                  <a:pt x="0" y="0"/>
                </a:moveTo>
                <a:lnTo>
                  <a:pt x="12147408" y="0"/>
                </a:lnTo>
                <a:lnTo>
                  <a:pt x="12147408" y="8016560"/>
                </a:lnTo>
                <a:lnTo>
                  <a:pt x="0" y="80165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78" r="0" b="-47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70333" y="568504"/>
            <a:ext cx="11843768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 b="true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1.Sơ Đồ Hoạt Động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99957" y="504825"/>
            <a:ext cx="1246434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0"/>
              </a:lnSpc>
            </a:pPr>
            <a:r>
              <a:rPr lang="en-US" b="true" sz="6925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Các chức năng ở Client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225082" y="2085098"/>
            <a:ext cx="7014091" cy="584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263" indent="-356131" lvl="1">
              <a:lnSpc>
                <a:spcPts val="4981"/>
              </a:lnSpc>
              <a:buAutoNum type="arabicPeriod" startAt="1"/>
            </a:pPr>
            <a:r>
              <a:rPr lang="en-US" b="true" sz="3299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Đăng nhập &amp; Quản lý tài khoản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433316" y="2860090"/>
            <a:ext cx="207418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2.</a:t>
            </a:r>
            <a:r>
              <a:rPr lang="en-US" b="true" sz="330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Nhắn tin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       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33316" y="3841165"/>
            <a:ext cx="206752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3.</a:t>
            </a:r>
            <a:r>
              <a:rPr lang="en-US" b="true" sz="330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Cuộc gọi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     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84313" y="4736385"/>
            <a:ext cx="5172194" cy="985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4.</a:t>
            </a:r>
            <a:r>
              <a:rPr lang="en-US" b="true" sz="330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Gửi/nhận tệp &amp; hình ảnh</a:t>
            </a:r>
          </a:p>
          <a:p>
            <a:pPr algn="l">
              <a:lnSpc>
                <a:spcPts val="333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902733" y="5797960"/>
            <a:ext cx="3658791" cy="985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5.</a:t>
            </a:r>
            <a:r>
              <a:rPr lang="en-US" b="true" sz="330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Quản lý danh bạ</a:t>
            </a:r>
          </a:p>
          <a:p>
            <a:pPr algn="l">
              <a:lnSpc>
                <a:spcPts val="333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433316" y="6859230"/>
            <a:ext cx="3379913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330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6.</a:t>
            </a:r>
            <a:r>
              <a:rPr lang="en-US" b="true" sz="330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Chat nhóm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   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67170" y="7788592"/>
            <a:ext cx="3394353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7.</a:t>
            </a:r>
            <a:r>
              <a:rPr lang="en-US" b="true" sz="330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Dịch vụ tiện ích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    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00511" y="8735655"/>
            <a:ext cx="2063234" cy="554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8.</a:t>
            </a:r>
            <a:r>
              <a:rPr lang="en-US" b="true" sz="330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Bảo mật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99957" y="504825"/>
            <a:ext cx="1246434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0"/>
              </a:lnSpc>
            </a:pPr>
            <a:r>
              <a:rPr lang="en-US" b="true" sz="6925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Các chức năng ở Server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200346" y="1885073"/>
            <a:ext cx="10364391" cy="584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263" indent="-356131" lvl="1">
              <a:lnSpc>
                <a:spcPts val="4981"/>
              </a:lnSpc>
              <a:buAutoNum type="arabicPeriod" startAt="1"/>
            </a:pPr>
            <a:r>
              <a:rPr lang="en-US" b="true" sz="3299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Xác</a:t>
            </a:r>
            <a:r>
              <a:rPr lang="en-US" b="true" sz="3299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 thực &amp; Quản lý tài khoản (Auth Server)</a:t>
            </a:r>
            <a:r>
              <a:rPr lang="en-US" sz="3299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         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30371" y="2802940"/>
            <a:ext cx="630434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2.Xử lý tin n</a:t>
            </a:r>
            <a:r>
              <a:rPr lang="en-US" b="true" sz="330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hắn (Chat Server)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 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23524" y="3841165"/>
            <a:ext cx="851803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3.Q</a:t>
            </a:r>
            <a:r>
              <a:rPr lang="en-US" b="true" sz="330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uản lý file &amp; hình ảnh (Media Server)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     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23786" y="4822240"/>
            <a:ext cx="7240429" cy="985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4.Đồ</a:t>
            </a:r>
            <a:r>
              <a:rPr lang="en-US" b="true" sz="330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ng bộ danh bạ (Contact Server)</a:t>
            </a:r>
          </a:p>
          <a:p>
            <a:pPr algn="l">
              <a:lnSpc>
                <a:spcPts val="3339"/>
              </a:lnSpc>
              <a:spcBef>
                <a:spcPct val="0"/>
              </a:spcBef>
            </a:pPr>
            <a:r>
              <a:rPr lang="en-US" sz="2385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        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24801" y="5750160"/>
            <a:ext cx="6238399" cy="985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5.</a:t>
            </a:r>
            <a:r>
              <a:rPr lang="en-US" b="true" sz="330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Quản lý cuộc gọi (Call Server)</a:t>
            </a:r>
          </a:p>
          <a:p>
            <a:pPr algn="l">
              <a:lnSpc>
                <a:spcPts val="3339"/>
              </a:lnSpc>
              <a:spcBef>
                <a:spcPct val="0"/>
              </a:spcBef>
            </a:pPr>
            <a:r>
              <a:rPr lang="en-US" sz="2385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34861" y="6678079"/>
            <a:ext cx="10229876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6.Quản lý nội dung N</a:t>
            </a:r>
            <a:r>
              <a:rPr lang="en-US" b="true" sz="330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hật ký (Timeline/Feed Server)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81201" y="7716304"/>
            <a:ext cx="620268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7.Tích hợp d</a:t>
            </a:r>
            <a:r>
              <a:rPr lang="en-US" b="true" sz="330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ịch vụ bên ngoài</a:t>
            </a:r>
            <a:r>
              <a:rPr lang="en-US" sz="3300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    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38380" y="864180"/>
          <a:ext cx="18040006" cy="9472566"/>
        </p:xfrm>
        <a:graphic>
          <a:graphicData uri="http://schemas.openxmlformats.org/drawingml/2006/table">
            <a:tbl>
              <a:tblPr/>
              <a:tblGrid>
                <a:gridCol w="9238419"/>
                <a:gridCol w="8801587"/>
              </a:tblGrid>
              <a:tr h="7842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42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9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42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63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42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42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84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5765359" y="78113"/>
            <a:ext cx="5836890" cy="66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8"/>
              </a:lnSpc>
              <a:spcBef>
                <a:spcPct val="0"/>
              </a:spcBef>
            </a:pPr>
            <a:r>
              <a:rPr lang="en-US" b="true" sz="3899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So Sánh Client Vs Server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81075"/>
            <a:ext cx="4489847" cy="45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Client (Ứng dụng người dùng)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2304" y="1674519"/>
            <a:ext cx="5231904" cy="45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Giao diện, nơi người dùng thao tác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062146" y="981075"/>
            <a:ext cx="3444329" cy="45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Server (Hệ thống Zalo)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93894" y="1674519"/>
            <a:ext cx="6180832" cy="45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Bộ não xử lý, lưu trữ và phân phối dữ liệu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1196" y="2575632"/>
            <a:ext cx="5976938" cy="3312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- Đăng nhập</a:t>
            </a:r>
          </a:p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- Gửi/nhận tin nhắn</a:t>
            </a:r>
          </a:p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- Gửi/nhận file, ảnh</a:t>
            </a:r>
          </a:p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- Thực hiện cuộc gọi</a:t>
            </a:r>
          </a:p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- Nhận thông báo</a:t>
            </a:r>
          </a:p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- Đồng bộ danh bạ</a:t>
            </a:r>
          </a:p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- Quản lý nhóm, đăng bài, xem Nhật ký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67887" y="2367963"/>
            <a:ext cx="5632847" cy="3789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- Xác thực tài khoản (Auth Server)</a:t>
            </a:r>
          </a:p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- Xử lý tin nhắn (Chat Server)</a:t>
            </a:r>
          </a:p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- Quản lý file/ảnh (Media Server)</a:t>
            </a:r>
          </a:p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- Gửi thông báo (Notification Service)</a:t>
            </a:r>
          </a:p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- Đồng bộ danh bạ (Contact Server)</a:t>
            </a:r>
          </a:p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- Điều phối cuộc gọi (Call Server)</a:t>
            </a:r>
          </a:p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- Quản lý nhóm, nhật ký</a:t>
            </a:r>
          </a:p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- Bảo mật, mã hóa, chống spam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8378" y="6326601"/>
            <a:ext cx="6139755" cy="45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Chỉ xử lý hiển thị và nhập liệu (giao diện)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7580" y="6326601"/>
            <a:ext cx="7331720" cy="45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Xử lý logic nghiệp vụ, quản lý dữ liệu người dùng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8578" y="7020045"/>
            <a:ext cx="4726781" cy="45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Lưu cache tạm thời trên thiết bị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45860" y="7020045"/>
            <a:ext cx="6876901" cy="45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Lưu trữ lâu dài trên Database, Media Storage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2304" y="7911513"/>
            <a:ext cx="5492353" cy="45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Gửi yêu cầu đến Server qua Internet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80153" y="7911513"/>
            <a:ext cx="6342608" cy="45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Nhận yêu cầu từ nhiều Client, phản hồi lại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380" y="8802981"/>
            <a:ext cx="8237488" cy="45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Khóa ứng dụng, xác thực cục bộ (PIN, vân tay, FaceID)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90234" y="8610780"/>
            <a:ext cx="8788152" cy="45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Mã hóa dữ liệu, kiểm soát quyền truy cập, chống tấn công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0047" y="9509952"/>
            <a:ext cx="4436418" cy="45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Cá nhân (thiết bị người dùng)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45860" y="9508071"/>
            <a:ext cx="7486204" cy="45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Toàn hệ thống (nhiều máy chủ, trung tâm dữ liệu)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02310"/>
            <a:ext cx="14470071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true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2.Các tình huống sử dụng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023655"/>
            <a:ext cx="4523707" cy="525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4607" indent="-372304" lvl="1">
              <a:lnSpc>
                <a:spcPts val="4138"/>
              </a:lnSpc>
              <a:buAutoNum type="arabicPeriod" startAt="1"/>
            </a:pPr>
            <a:r>
              <a:rPr lang="en-US" sz="3448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GIAO TIẾP</a:t>
            </a:r>
          </a:p>
        </p:txBody>
      </p:sp>
      <p:sp>
        <p:nvSpPr>
          <p:cNvPr name="AutoShape 4" id="4"/>
          <p:cNvSpPr/>
          <p:nvPr/>
        </p:nvSpPr>
        <p:spPr>
          <a:xfrm rot="0">
            <a:off x="1028700" y="3917989"/>
            <a:ext cx="4523707" cy="1674406"/>
          </a:xfrm>
          <a:prstGeom prst="rect">
            <a:avLst/>
          </a:prstGeom>
          <a:solidFill>
            <a:srgbClr val="10B5BF"/>
          </a:solidFill>
        </p:spPr>
      </p:sp>
      <p:sp>
        <p:nvSpPr>
          <p:cNvPr name="TextBox 5" id="5"/>
          <p:cNvSpPr txBox="true"/>
          <p:nvPr/>
        </p:nvSpPr>
        <p:spPr>
          <a:xfrm rot="0">
            <a:off x="1367688" y="4029123"/>
            <a:ext cx="3845731" cy="1244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021" indent="-257510" lvl="1">
              <a:lnSpc>
                <a:spcPts val="3339"/>
              </a:lnSpc>
              <a:buFont typeface="Arial"/>
              <a:buChar char="•"/>
            </a:pPr>
            <a:r>
              <a:rPr lang="en-US" sz="2385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Tìm kiếm và kết bạn</a:t>
            </a:r>
          </a:p>
          <a:p>
            <a:pPr algn="l" marL="515021" indent="-257510" lvl="1">
              <a:lnSpc>
                <a:spcPts val="3339"/>
              </a:lnSpc>
              <a:buFont typeface="Arial"/>
              <a:buChar char="•"/>
            </a:pPr>
            <a:r>
              <a:rPr lang="en-US" sz="2385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Nhắn tin và gọi điện</a:t>
            </a:r>
          </a:p>
          <a:p>
            <a:pPr algn="l" marL="515020" indent="-257510" lvl="1">
              <a:lnSpc>
                <a:spcPts val="3339"/>
              </a:lnSpc>
              <a:buFont typeface="Arial"/>
              <a:buChar char="•"/>
            </a:pPr>
            <a:r>
              <a:rPr lang="en-US" sz="2385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Gọi thoại và videocall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75508" y="3023655"/>
            <a:ext cx="4523707" cy="525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8"/>
              </a:lnSpc>
            </a:pPr>
            <a:r>
              <a:rPr lang="en-US" sz="3448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2.GIẢI TRÍ</a:t>
            </a:r>
          </a:p>
        </p:txBody>
      </p:sp>
      <p:sp>
        <p:nvSpPr>
          <p:cNvPr name="AutoShape 7" id="7"/>
          <p:cNvSpPr/>
          <p:nvPr/>
        </p:nvSpPr>
        <p:spPr>
          <a:xfrm rot="0">
            <a:off x="9475508" y="3917989"/>
            <a:ext cx="7063414" cy="1674406"/>
          </a:xfrm>
          <a:prstGeom prst="rect">
            <a:avLst/>
          </a:prstGeom>
          <a:solidFill>
            <a:srgbClr val="10B5BF"/>
          </a:solidFill>
        </p:spPr>
      </p:sp>
      <p:sp>
        <p:nvSpPr>
          <p:cNvPr name="TextBox 8" id="8"/>
          <p:cNvSpPr txBox="true"/>
          <p:nvPr/>
        </p:nvSpPr>
        <p:spPr>
          <a:xfrm rot="0">
            <a:off x="9475508" y="3896129"/>
            <a:ext cx="6900135" cy="166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021" indent="-257510" lvl="1">
              <a:lnSpc>
                <a:spcPts val="3339"/>
              </a:lnSpc>
              <a:buFont typeface="Arial"/>
              <a:buChar char="•"/>
            </a:pPr>
            <a:r>
              <a:rPr lang="en-US" sz="2385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Cập nhật tin tức: Theo dõi các trang báo chí, cộng đồng để nắm bắt thông tin</a:t>
            </a:r>
          </a:p>
          <a:p>
            <a:pPr algn="l" marL="515021" indent="-257510" lvl="1">
              <a:lnSpc>
                <a:spcPts val="3339"/>
              </a:lnSpc>
              <a:buFont typeface="Arial"/>
              <a:buChar char="•"/>
            </a:pPr>
            <a:r>
              <a:rPr lang="en-US" sz="2385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Chơi game: Tham gia các trò chơi trực tuyến ngay trên ứng dụng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10442" y="6416349"/>
            <a:ext cx="6944177" cy="525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8"/>
              </a:lnSpc>
            </a:pPr>
            <a:r>
              <a:rPr lang="en-US" sz="3448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3.THANH TOÁN VÀ TIỆN ÍCH</a:t>
            </a:r>
          </a:p>
        </p:txBody>
      </p:sp>
      <p:sp>
        <p:nvSpPr>
          <p:cNvPr name="AutoShape 10" id="10"/>
          <p:cNvSpPr/>
          <p:nvPr/>
        </p:nvSpPr>
        <p:spPr>
          <a:xfrm rot="0">
            <a:off x="5110442" y="7310683"/>
            <a:ext cx="6944177" cy="1674406"/>
          </a:xfrm>
          <a:prstGeom prst="rect">
            <a:avLst/>
          </a:prstGeom>
          <a:solidFill>
            <a:srgbClr val="10B5BF"/>
          </a:solidFill>
        </p:spPr>
      </p:sp>
      <p:sp>
        <p:nvSpPr>
          <p:cNvPr name="TextBox 11" id="11"/>
          <p:cNvSpPr txBox="true"/>
          <p:nvPr/>
        </p:nvSpPr>
        <p:spPr>
          <a:xfrm rot="0">
            <a:off x="4982470" y="7421817"/>
            <a:ext cx="7200123" cy="1244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021" indent="-257510" lvl="1">
              <a:lnSpc>
                <a:spcPts val="3339"/>
              </a:lnSpc>
              <a:buFont typeface="Arial"/>
              <a:buChar char="•"/>
            </a:pPr>
            <a:r>
              <a:rPr lang="en-US" sz="2385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Zalopay: Thanh toán hóa đơn, nạp tiền điện thoại, chuyển tiền</a:t>
            </a:r>
          </a:p>
          <a:p>
            <a:pPr algn="l" marL="515021" indent="-257510" lvl="1">
              <a:lnSpc>
                <a:spcPts val="3339"/>
              </a:lnSpc>
              <a:buFont typeface="Arial"/>
              <a:buChar char="•"/>
            </a:pPr>
            <a:r>
              <a:rPr lang="en-US" sz="2385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Tiện ích khác: Đặt lịch hẹn, mua sắm trực tuyến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82616" y="1028700"/>
            <a:ext cx="8322769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39"/>
              </a:lnSpc>
            </a:pPr>
            <a:r>
              <a:rPr lang="en-US" sz="8199" b="true">
                <a:solidFill>
                  <a:srgbClr val="FFFFF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5.Các thuật toán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924977" y="2949243"/>
            <a:ext cx="11066447" cy="6107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3987" indent="-471993" lvl="1">
              <a:lnSpc>
                <a:spcPts val="6121"/>
              </a:lnSpc>
              <a:buFont typeface="Arial"/>
              <a:buChar char="•"/>
            </a:pPr>
            <a:r>
              <a:rPr lang="en-US" sz="4372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Mã hóa dữ liệu: AES, RSA để bảo mật tin nhắn.</a:t>
            </a:r>
          </a:p>
          <a:p>
            <a:pPr algn="l" marL="943987" indent="-471993" lvl="1">
              <a:lnSpc>
                <a:spcPts val="6121"/>
              </a:lnSpc>
              <a:buFont typeface="Arial"/>
              <a:buChar char="•"/>
            </a:pPr>
            <a:r>
              <a:rPr lang="en-US" sz="4372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Thuật toán tìm kiếm: để tìm bạn bè, tin nhắn nhanh chóng.</a:t>
            </a:r>
          </a:p>
          <a:p>
            <a:pPr algn="l" marL="943987" indent="-471993" lvl="1">
              <a:lnSpc>
                <a:spcPts val="6121"/>
              </a:lnSpc>
              <a:buFont typeface="Arial"/>
              <a:buChar char="•"/>
            </a:pPr>
            <a:r>
              <a:rPr lang="en-US" sz="4372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Thuật toán nén: giảm dung lượng hình ảnh/video khi gửi.</a:t>
            </a:r>
          </a:p>
          <a:p>
            <a:pPr algn="l" marL="943987" indent="-471993" lvl="1">
              <a:lnSpc>
                <a:spcPts val="6121"/>
              </a:lnSpc>
              <a:buFont typeface="Arial"/>
              <a:buChar char="•"/>
            </a:pPr>
            <a:r>
              <a:rPr lang="en-US" sz="4372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Thuật toán quản lý kết nối: đảm bảo tin nhắn đến ngay cả khi mạng yếu.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1836" y="1505495"/>
            <a:ext cx="16245370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b="true" sz="8000">
                <a:solidFill>
                  <a:srgbClr val="FFFFF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6.Cách tổ chức và quản lý dữ liệu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60995" y="3847635"/>
            <a:ext cx="14766010" cy="455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4687" indent="-347344" lvl="1">
              <a:lnSpc>
                <a:spcPts val="4504"/>
              </a:lnSpc>
              <a:buFont typeface="Arial"/>
              <a:buChar char="•"/>
            </a:pPr>
            <a:r>
              <a:rPr lang="en-US" sz="3217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Cơ sở dữ liệu</a:t>
            </a:r>
            <a:r>
              <a:rPr lang="en-US" sz="3217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 người dùng: thông tin cá nhân, mật khẩu (hash).</a:t>
            </a:r>
          </a:p>
          <a:p>
            <a:pPr algn="l" marL="694687" indent="-347344" lvl="1">
              <a:lnSpc>
                <a:spcPts val="4504"/>
              </a:lnSpc>
              <a:buFont typeface="Arial"/>
              <a:buChar char="•"/>
            </a:pPr>
            <a:r>
              <a:rPr lang="en-US" sz="3217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CSDL tin nhắn: lưu trữ dạng bảng quan hệ (UserID, ConversationID, MessageID).</a:t>
            </a:r>
          </a:p>
          <a:p>
            <a:pPr algn="l" marL="694687" indent="-347344" lvl="1">
              <a:lnSpc>
                <a:spcPts val="4504"/>
              </a:lnSpc>
              <a:buFont typeface="Arial"/>
              <a:buChar char="•"/>
            </a:pPr>
            <a:r>
              <a:rPr lang="en-US" sz="3217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CSDL nhóm: lưu thông tin group, thành viên.</a:t>
            </a:r>
          </a:p>
          <a:p>
            <a:pPr algn="l" marL="694687" indent="-347344" lvl="1">
              <a:lnSpc>
                <a:spcPts val="4504"/>
              </a:lnSpc>
              <a:buFont typeface="Arial"/>
              <a:buChar char="•"/>
            </a:pPr>
            <a:r>
              <a:rPr lang="en-US" sz="3217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CSDL media: ảnh/video được lưu trên hệ thống file server/Cloud Storage.</a:t>
            </a:r>
          </a:p>
          <a:p>
            <a:pPr algn="l" marL="694687" indent="-347344" lvl="1">
              <a:lnSpc>
                <a:spcPts val="4504"/>
              </a:lnSpc>
              <a:buFont typeface="Arial"/>
              <a:buChar char="•"/>
            </a:pPr>
            <a:r>
              <a:rPr lang="en-US" sz="3217">
                <a:solidFill>
                  <a:srgbClr val="FFFFFF"/>
                </a:solidFill>
                <a:latin typeface="Muli Extra-Light"/>
                <a:ea typeface="Muli Extra-Light"/>
                <a:cs typeface="Muli Extra-Light"/>
                <a:sym typeface="Muli Extra-Light"/>
              </a:rPr>
              <a:t>Cơ chế phân tán: sử dụng nhiều server để xử lý hàng triệu người dùng cùng lúc.</a:t>
            </a:r>
          </a:p>
          <a:p>
            <a:pPr algn="l">
              <a:lnSpc>
                <a:spcPts val="4504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43293" y="5133975"/>
            <a:ext cx="1100141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9"/>
              </a:lnSpc>
            </a:pPr>
            <a:r>
              <a:rPr lang="en-US" b="true" sz="5549">
                <a:solidFill>
                  <a:srgbClr val="FFFFF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THANK YOU FOR LISTENING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DAGzOYc_M8E</dc:identifier>
  <dcterms:modified xsi:type="dcterms:W3CDTF">2011-08-01T06:04:30Z</dcterms:modified>
  <cp:revision>1</cp:revision>
  <dc:title>Xanh dương Thành phần 3D Công nghệ 5G Bản thuyết trình</dc:title>
</cp:coreProperties>
</file>